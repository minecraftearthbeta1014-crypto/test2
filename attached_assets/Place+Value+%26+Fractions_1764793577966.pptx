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>
      <p:cViewPr varScale="1">
        <p:scale>
          <a:sx n="140" d="100"/>
          <a:sy n="140" d="100"/>
        </p:scale>
        <p:origin x="74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a4efac44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a4efac44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a4efac440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a4efac4404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a4efac4404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a4efac4404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a4efac4404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a4efac4404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a4efac4404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a4efac4404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a4efac4404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a4efac4404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a4efac4404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a4efac4404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Discussion:  Possible Objectives &amp;  Assessments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out rooms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a4efac4404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a4efac4404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4efac4404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a4efac4404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a4efac4404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a4efac4404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a6414e8e15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a6414e8e15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a4efac4404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a4efac4404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a4efac4404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a4efac4404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a6414e8e15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a6414e8e15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a6414e8e15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a6414e8e15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a4efac4404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a4efac4404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Discussion:  Possible Objectives &amp;  Assessments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out rooms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99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desas.org/Standard/Detail?LinkStandardId=0&amp;StandardId=160633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9.jp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jpg"/><Relationship Id="rId5" Type="http://schemas.openxmlformats.org/officeDocument/2006/relationships/image" Target="../media/image36.png"/><Relationship Id="rId4" Type="http://schemas.openxmlformats.org/officeDocument/2006/relationships/image" Target="../media/image3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desas.org/Standard/Detail?LinkStandardId=0&amp;StandardId=161141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642900"/>
            <a:ext cx="8520600" cy="11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PLACE VALUE AND FRACTIONS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132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Whole Numbers &amp; Fractions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EDEC 303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9826" y="53251"/>
            <a:ext cx="1228823" cy="1233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349" y="37753"/>
            <a:ext cx="1133700" cy="11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351" y="2776600"/>
            <a:ext cx="1787766" cy="18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05300" y="76388"/>
            <a:ext cx="1056425" cy="105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87825" y="2966750"/>
            <a:ext cx="1856175" cy="19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Whole Numbers:  Place Value (PV)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63550" y="1145750"/>
            <a:ext cx="7634700" cy="31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 the Hindu-Arabic Numeration System. 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b="1"/>
              <a:t>4 Important Characteristics: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 b="1"/>
              <a:t>Place Value</a:t>
            </a:r>
            <a:r>
              <a:rPr lang="en"/>
              <a:t>:  The position of a digit represents its value.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 b="1"/>
              <a:t>Base of 10:</a:t>
            </a:r>
            <a:r>
              <a:rPr lang="en"/>
              <a:t>  Collection of 10. Our digits are 0-9.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 b="1"/>
              <a:t>Use of 0</a:t>
            </a:r>
            <a:r>
              <a:rPr lang="en"/>
              <a:t> (zero):  Zero (0) can show the absence of something.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lang="en" b="1"/>
              <a:t>Additive Property</a:t>
            </a:r>
            <a:r>
              <a:rPr lang="en"/>
              <a:t>:  Numbers can be written in expanded notation.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	</a:t>
            </a:r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7700" y="1562268"/>
            <a:ext cx="1894600" cy="1498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0798" y="1562275"/>
            <a:ext cx="898252" cy="95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69325" y="297450"/>
            <a:ext cx="8520600" cy="111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for Developing PV Understanding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311700" y="1557825"/>
            <a:ext cx="8520600" cy="3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-</a:t>
            </a:r>
            <a:r>
              <a:rPr lang="en" b="1"/>
              <a:t>Whole numbers are part of a learning trajectory.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     -Young children begin understanding of numbers as “counting by ones.”</a:t>
            </a:r>
            <a:endParaRPr b="1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            A 24 year old will have 24 candles on a birthday cake.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     -Ungrouped models</a:t>
            </a:r>
            <a:r>
              <a:rPr lang="en"/>
              <a:t> can be formed into collections of 10.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     -Pregrouped models</a:t>
            </a:r>
            <a:r>
              <a:rPr lang="en"/>
              <a:t> are already grouped into groups of 10.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-Children need experiences with concrete models supported by oral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descriptions and symbolic representations of the models.                                                           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9700" y="297450"/>
            <a:ext cx="2156625" cy="120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468" y="3860025"/>
            <a:ext cx="1610307" cy="120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8947" y="3797172"/>
            <a:ext cx="2003775" cy="13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11700" y="125525"/>
            <a:ext cx="7620600" cy="11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Models for Developing PV Understanding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355775" y="1557725"/>
            <a:ext cx="8520600" cy="33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Proportional Models: </a:t>
            </a:r>
            <a:r>
              <a:rPr lang="en"/>
              <a:t> The material for 10 is 10 times bigger than the 1.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Examples:  Base 10 blocks; Interlocking blocks grouped as 10 &amp; singles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Non-Proportional Models: </a:t>
            </a:r>
            <a:r>
              <a:rPr lang="en"/>
              <a:t> There is no size relationship between the models of place value (1, 10, 100, etc.)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Examples:  Money, Counters where the color indicates the value (1, 10, 100)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Children need experiences with concrete models supported by oral descriptions and symbolic representations of the models.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5025" y="689500"/>
            <a:ext cx="2244225" cy="92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1346" y="3823225"/>
            <a:ext cx="1630100" cy="12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2576" y="3734538"/>
            <a:ext cx="1221000" cy="122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6498" y="3635188"/>
            <a:ext cx="2535127" cy="141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0264" y="3885876"/>
            <a:ext cx="1478387" cy="12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209325"/>
            <a:ext cx="8520600" cy="8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Teaching Place Value:  Beginning</a:t>
            </a:r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72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IMPORTANT:</a:t>
            </a:r>
            <a:r>
              <a:rPr lang="en"/>
              <a:t>  11-19 are the hardest 2-digit numbers.  There is no consistency between the oral (spoken) and the written forms of 11-19.  Start with larger numbers (20 - 99) to help establish PV concepts and naming numbers.  Return to 11-19 later.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10 Frames allow children to see a value as ones  and also as groups of 10.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2500" y="797475"/>
            <a:ext cx="3215075" cy="160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8450" y="2625375"/>
            <a:ext cx="3077450" cy="24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Representing Numbers using Place Value</a:t>
            </a:r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Bruner’s Instructional Sequence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Enactive (Concrete Models)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Iconic (Pictures - 100-chart)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Symbolic (Numbers)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Real life examples &amp; contexts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Language:  Spoken and Written</a:t>
            </a:r>
            <a:endParaRPr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4200" y="1017725"/>
            <a:ext cx="4583025" cy="386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Extending Place Value</a:t>
            </a:r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Hindu Arabic Number System extends to large numbers by periods: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Hundreds(ones, tens, hundreds)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Thousands (thousands, ten thousands, hundred thousands)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Millions (millions, ten millions, hundred millions)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Billions (billions, ten billions, hundred billions)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also extends to place values less than 1.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(Tenths, Hundredths, Thousandths</a:t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025" y="3448275"/>
            <a:ext cx="8135950" cy="1517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0050" y="274175"/>
            <a:ext cx="497205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08060" y="1689075"/>
            <a:ext cx="1679515" cy="126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Standards - Objectives - Assessments</a:t>
            </a:r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Grade 2: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CC.2.1.2.B.1</a:t>
            </a:r>
            <a:endParaRPr sz="2000" b="1" u="sng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Use place value concepts to represent amounts of tens and ones and to compare three digit numbers.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3100" y="253400"/>
            <a:ext cx="2049200" cy="18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6773" y="3139798"/>
            <a:ext cx="1864800" cy="186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fraction?</a:t>
            </a:r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4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</a:rPr>
              <a:t>Big Fraction Ideas:</a:t>
            </a:r>
            <a:endParaRPr sz="26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A whole may consist of many parts.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If a whole is partitioned into equal parts, the parts can be represented by fractions.</a:t>
            </a:r>
            <a:endParaRPr sz="24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a/b, where a and b are integers and b ≠ 0.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5800" y="445025"/>
            <a:ext cx="245745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6775" y="3459300"/>
            <a:ext cx="1475225" cy="124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23697" y="225175"/>
            <a:ext cx="1537275" cy="15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                         </a:t>
            </a:r>
            <a:r>
              <a:rPr lang="en" sz="2400" b="1"/>
              <a:t> Meanings of Fractions</a:t>
            </a:r>
            <a:endParaRPr sz="4100" b="1"/>
          </a:p>
        </p:txBody>
      </p:sp>
      <p:sp>
        <p:nvSpPr>
          <p:cNvPr id="135" name="Google Shape;13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Part-whole: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 u="sng">
                <a:solidFill>
                  <a:schemeClr val="dk1"/>
                </a:solidFill>
              </a:rPr>
              <a:t>Most Common.</a:t>
            </a:r>
            <a:r>
              <a:rPr lang="en" sz="2000">
                <a:solidFill>
                  <a:schemeClr val="dk1"/>
                </a:solidFill>
              </a:rPr>
              <a:t> A whole has been partitioned into equal parts. Shade ½  ⊖.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Quotient: (Division):</a:t>
            </a:r>
            <a:r>
              <a:rPr lang="en" sz="2000">
                <a:solidFill>
                  <a:schemeClr val="dk1"/>
                </a:solidFill>
              </a:rPr>
              <a:t> ⅗ Sharing 3 big cookies equally between 5 people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</a:rPr>
              <a:t>Ratio: </a:t>
            </a:r>
            <a:r>
              <a:rPr lang="en" sz="2000">
                <a:solidFill>
                  <a:schemeClr val="dk1"/>
                </a:solidFill>
              </a:rPr>
              <a:t>1/10 or 1:10.  There is 1 pre-school teacher for every 10 children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36" name="Google Shape;13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913" y="3186963"/>
            <a:ext cx="2466975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5875" y="119825"/>
            <a:ext cx="2110025" cy="122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8274" y="3152375"/>
            <a:ext cx="1969975" cy="192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4250" y="348125"/>
            <a:ext cx="1062900" cy="89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title"/>
          </p:nvPr>
        </p:nvSpPr>
        <p:spPr>
          <a:xfrm>
            <a:off x="311700" y="257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                           </a:t>
            </a:r>
            <a:r>
              <a:rPr lang="en" sz="2400" b="1"/>
              <a:t>Models of Fractions</a:t>
            </a:r>
            <a:endParaRPr sz="4100" b="1"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1"/>
          </p:nvPr>
        </p:nvSpPr>
        <p:spPr>
          <a:xfrm>
            <a:off x="223550" y="892350"/>
            <a:ext cx="8520600" cy="40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</a:rPr>
              <a:t>Region Model:</a:t>
            </a:r>
            <a:r>
              <a:rPr lang="en" sz="1500">
                <a:solidFill>
                  <a:schemeClr val="dk1"/>
                </a:solidFill>
              </a:rPr>
              <a:t> The region is the whole (the unit) and the 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parts are congruent (same size &amp; shape)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Rectangles are easy to draw and partition easily.  Some books call this a </a:t>
            </a:r>
            <a:r>
              <a:rPr lang="en" sz="1500" b="1">
                <a:solidFill>
                  <a:schemeClr val="dk1"/>
                </a:solidFill>
              </a:rPr>
              <a:t>“bar model.</a:t>
            </a:r>
            <a:r>
              <a:rPr lang="en" sz="1500">
                <a:solidFill>
                  <a:schemeClr val="dk1"/>
                </a:solidFill>
              </a:rPr>
              <a:t>”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</a:rPr>
              <a:t>Length or Measurement Model</a:t>
            </a:r>
            <a:r>
              <a:rPr lang="en" sz="1500">
                <a:solidFill>
                  <a:schemeClr val="dk1"/>
                </a:solidFill>
              </a:rPr>
              <a:t>:   (Length measurement are a most common. ) Any unit of length can be partitioned into fractional parts of equal length.  (Notice that rulers are long rectangles.)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1475" y="771175"/>
            <a:ext cx="1093625" cy="9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9399" y="2190349"/>
            <a:ext cx="4048202" cy="96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525" y="4041925"/>
            <a:ext cx="5086350" cy="62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36075" y="3793275"/>
            <a:ext cx="2150049" cy="125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				</a:t>
            </a:r>
            <a:r>
              <a:rPr lang="en" sz="2400" b="1"/>
              <a:t>Models of Fractions</a:t>
            </a:r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>
            <a:off x="311700" y="881350"/>
            <a:ext cx="8520600" cy="36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dk1"/>
                </a:solidFill>
              </a:rPr>
              <a:t>Set Model</a:t>
            </a:r>
            <a:r>
              <a:rPr lang="en" sz="1500">
                <a:solidFill>
                  <a:schemeClr val="dk1"/>
                </a:solidFill>
              </a:rPr>
              <a:t>: The set is the whole. Children do not often have much experience in partitioning 	objects in a set.  (A case of soda is a set.  A classroom of children is a set)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	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 b="1">
                <a:solidFill>
                  <a:schemeClr val="dk1"/>
                </a:solidFill>
              </a:rPr>
              <a:t>Area Model</a:t>
            </a:r>
            <a:r>
              <a:rPr lang="en" sz="1500">
                <a:solidFill>
                  <a:schemeClr val="dk1"/>
                </a:solidFill>
              </a:rPr>
              <a:t> is least common. (Tangrams) Notice the square piece, and parallelogram piece have the same area, however they don’t look alike. 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7" y="1702113"/>
            <a:ext cx="1945125" cy="139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7000" y="1649537"/>
            <a:ext cx="1573150" cy="14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1">
            <a:off x="1657837" y="3638838"/>
            <a:ext cx="1362400" cy="164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2300" y="3676263"/>
            <a:ext cx="1506500" cy="125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17768" y="3518156"/>
            <a:ext cx="658350" cy="157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08472" y="1702125"/>
            <a:ext cx="2290903" cy="149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709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Teaching Fractions</a:t>
            </a:r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Bruner’s Instructional Sequence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Enactive (Concrete Models)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Iconic (Pictures - 100-chart)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	Symbolic (Numbers)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Real life examples &amp; contexts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Language:  Spoken and Written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68" name="Google Shape;16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8799" y="198325"/>
            <a:ext cx="3916550" cy="29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3163" y="3402950"/>
            <a:ext cx="3286125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Developing Fraction Ideas (PDESAS Standards)</a:t>
            </a:r>
            <a:endParaRPr/>
          </a:p>
        </p:txBody>
      </p:sp>
      <p:sp>
        <p:nvSpPr>
          <p:cNvPr id="175" name="Google Shape;175;p26"/>
          <p:cNvSpPr txBox="1">
            <a:spLocks noGrp="1"/>
          </p:cNvSpPr>
          <p:nvPr>
            <p:ph type="body" idx="1"/>
          </p:nvPr>
        </p:nvSpPr>
        <p:spPr>
          <a:xfrm>
            <a:off x="179500" y="1119425"/>
            <a:ext cx="8520600" cy="378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rgbClr val="073763"/>
                </a:solidFill>
              </a:rPr>
              <a:t>Grade 1:  Fractions in Geometry</a:t>
            </a:r>
            <a:endParaRPr sz="2500" b="1">
              <a:solidFill>
                <a:srgbClr val="07376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 b="1">
                <a:solidFill>
                  <a:srgbClr val="082A3D"/>
                </a:solidFill>
              </a:rPr>
              <a:t>Standard - CC.2.3.1.A.2</a:t>
            </a:r>
            <a:endParaRPr sz="1950" b="1">
              <a:solidFill>
                <a:srgbClr val="082A3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A3D"/>
                </a:solidFill>
              </a:rPr>
              <a:t>Use the understanding of fractions to partition shapes into halves and quarters.</a:t>
            </a: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45818E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rgbClr val="45818E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073763"/>
                </a:solidFill>
              </a:rPr>
              <a:t>Grade 2: Fractions in Geometry</a:t>
            </a:r>
            <a:r>
              <a:rPr lang="en" b="1">
                <a:solidFill>
                  <a:srgbClr val="073763"/>
                </a:solidFill>
              </a:rPr>
              <a:t> </a:t>
            </a:r>
            <a:endParaRPr b="1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50" b="1">
                <a:solidFill>
                  <a:srgbClr val="082A3D"/>
                </a:solidFill>
              </a:rPr>
              <a:t>Standard - CC.2.3.2.A.2</a:t>
            </a:r>
            <a:endParaRPr sz="1950" b="1">
              <a:solidFill>
                <a:srgbClr val="082A3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82A3D"/>
                </a:solidFill>
              </a:rPr>
              <a:t>Use the understanding of fractions to partition shapes into halves, quarters, and thirds.</a:t>
            </a:r>
            <a:endParaRPr>
              <a:solidFill>
                <a:srgbClr val="082A3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C4587"/>
                </a:solidFill>
              </a:rPr>
              <a:t> </a:t>
            </a:r>
            <a:endParaRPr>
              <a:solidFill>
                <a:srgbClr val="1C4587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>
            <a:spLocks noGrp="1"/>
          </p:cNvSpPr>
          <p:nvPr>
            <p:ph type="title"/>
          </p:nvPr>
        </p:nvSpPr>
        <p:spPr>
          <a:xfrm>
            <a:off x="311700" y="323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Developing Fraction Ideas (PDESAS Standards)</a:t>
            </a:r>
            <a:endParaRPr/>
          </a:p>
        </p:txBody>
      </p:sp>
      <p:sp>
        <p:nvSpPr>
          <p:cNvPr id="181" name="Google Shape;181;p27"/>
          <p:cNvSpPr txBox="1">
            <a:spLocks noGrp="1"/>
          </p:cNvSpPr>
          <p:nvPr>
            <p:ph type="body" idx="1"/>
          </p:nvPr>
        </p:nvSpPr>
        <p:spPr>
          <a:xfrm>
            <a:off x="311700" y="1020275"/>
            <a:ext cx="8520600" cy="37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51C75"/>
                </a:solidFill>
              </a:rPr>
              <a:t>Grade 3:  Fractions in Geometry </a:t>
            </a:r>
            <a:r>
              <a:rPr lang="en" sz="2500" u="sng">
                <a:solidFill>
                  <a:srgbClr val="351C75"/>
                </a:solidFill>
              </a:rPr>
              <a:t>and</a:t>
            </a:r>
            <a:r>
              <a:rPr lang="en" sz="2500">
                <a:solidFill>
                  <a:srgbClr val="351C75"/>
                </a:solidFill>
              </a:rPr>
              <a:t> Fractions as Numbers</a:t>
            </a:r>
            <a:endParaRPr sz="2500">
              <a:solidFill>
                <a:srgbClr val="351C7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50" b="1">
                <a:solidFill>
                  <a:srgbClr val="082A3D"/>
                </a:solidFill>
              </a:rPr>
              <a:t>Standard - CC.2.1.3.C.1 </a:t>
            </a:r>
            <a:r>
              <a:rPr lang="en" sz="1700">
                <a:solidFill>
                  <a:srgbClr val="082A3D"/>
                </a:solidFill>
              </a:rPr>
              <a:t>Explore and develop an understanding of fractions as numbers.</a:t>
            </a:r>
            <a:endParaRPr sz="1700">
              <a:solidFill>
                <a:srgbClr val="082A3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50" b="1">
                <a:solidFill>
                  <a:srgbClr val="082A3D"/>
                </a:solidFill>
              </a:rPr>
              <a:t>Standard - CC.2.3.3.A.2 </a:t>
            </a:r>
            <a:r>
              <a:rPr lang="en" sz="1700">
                <a:solidFill>
                  <a:srgbClr val="082A3D"/>
                </a:solidFill>
              </a:rPr>
              <a:t>Use the understanding of fractions to partition shapes into parts with equal areas and express the area of each part as a unit fraction of the whole.</a:t>
            </a:r>
            <a:endParaRPr sz="1700">
              <a:solidFill>
                <a:srgbClr val="082A3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50" b="1">
                <a:solidFill>
                  <a:srgbClr val="082A3D"/>
                </a:solidFill>
              </a:rPr>
              <a:t>Standard - 11.3.3.F </a:t>
            </a:r>
            <a:r>
              <a:rPr lang="en" sz="1700">
                <a:solidFill>
                  <a:srgbClr val="082A3D"/>
                </a:solidFill>
              </a:rPr>
              <a:t>Identify components of a basic recipe (e.g., volume, weight, fractions, recipe ingredients, recipe directions, safety techniques).</a:t>
            </a:r>
            <a:endParaRPr>
              <a:solidFill>
                <a:srgbClr val="351C75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351C75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Developing Fraction Ideas (PDESAS Standards)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351C75"/>
                </a:solidFill>
              </a:rPr>
              <a:t>Grade 4:  Fractions as Numbers</a:t>
            </a:r>
            <a:endParaRPr sz="2500">
              <a:solidFill>
                <a:srgbClr val="351C75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50" b="1">
                <a:solidFill>
                  <a:schemeClr val="dk1"/>
                </a:solidFill>
              </a:rPr>
              <a:t>Standard - CC.2.1.4.C.1</a:t>
            </a:r>
            <a:endParaRPr sz="165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82A3D"/>
                </a:solidFill>
              </a:rPr>
              <a:t>Extend the understanding of fractions to show equivalence and ordering.</a:t>
            </a:r>
            <a:endParaRPr sz="1500">
              <a:solidFill>
                <a:srgbClr val="082A3D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082A3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 b="1">
                <a:solidFill>
                  <a:srgbClr val="082A3D"/>
                </a:solidFill>
              </a:rPr>
              <a:t>Standard - CC.2.1.4.C.2</a:t>
            </a:r>
            <a:endParaRPr sz="1650" b="1">
              <a:solidFill>
                <a:srgbClr val="082A3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82A3D"/>
                </a:solidFill>
              </a:rPr>
              <a:t>Build fractions from unit fractions by applying and extending previous understandings of operations on whole numbers</a:t>
            </a:r>
            <a:r>
              <a:rPr lang="en" sz="1500" b="1">
                <a:solidFill>
                  <a:srgbClr val="082A3D"/>
                </a:solidFill>
              </a:rPr>
              <a:t>.</a:t>
            </a:r>
            <a:endParaRPr sz="1500" b="1">
              <a:solidFill>
                <a:srgbClr val="082A3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1500" b="1">
              <a:solidFill>
                <a:srgbClr val="082A3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650" b="1">
                <a:solidFill>
                  <a:srgbClr val="082A3D"/>
                </a:solidFill>
              </a:rPr>
              <a:t>Standard - CC.2.1.4.C.3</a:t>
            </a:r>
            <a:endParaRPr sz="1650" b="1">
              <a:solidFill>
                <a:srgbClr val="082A3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82A3D"/>
                </a:solidFill>
              </a:rPr>
              <a:t>Connect decimal notation to fractions, and compare decimal fractions (base 10 denominator, e.g, 19/100).</a:t>
            </a:r>
            <a:endParaRPr sz="1500">
              <a:solidFill>
                <a:srgbClr val="082A3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1500">
              <a:solidFill>
                <a:srgbClr val="082A3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1300" b="1">
              <a:solidFill>
                <a:srgbClr val="082A3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1300" b="1">
              <a:solidFill>
                <a:srgbClr val="082A3D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351C75"/>
                </a:solidFill>
              </a:rPr>
              <a:t>  </a:t>
            </a:r>
            <a:endParaRPr sz="1900"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Standards - Objectives - Assessments</a:t>
            </a:r>
            <a:endParaRPr/>
          </a:p>
        </p:txBody>
      </p:sp>
      <p:sp>
        <p:nvSpPr>
          <p:cNvPr id="193" name="Google Shape;19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dk1"/>
                </a:solidFill>
              </a:rPr>
              <a:t>Grade 3:</a:t>
            </a: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rgbClr val="082A3D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CC.2.3.3.A.2</a:t>
            </a:r>
            <a:r>
              <a:rPr lang="en" sz="2100">
                <a:solidFill>
                  <a:srgbClr val="082A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the understanding of fractions to partition shapes into parts with equal areas and express the area of each part as a unit fraction of the whole.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this Standard.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Eligible Content?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1112</Words>
  <Application>Microsoft Macintosh PowerPoint</Application>
  <PresentationFormat>On-screen Show (16:9)</PresentationFormat>
  <Paragraphs>121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Comic Sans MS</vt:lpstr>
      <vt:lpstr>Times New Roman</vt:lpstr>
      <vt:lpstr>Simple Light</vt:lpstr>
      <vt:lpstr>PLACE VALUE AND FRACTIONS</vt:lpstr>
      <vt:lpstr>Understanding Whole Numbers:  Place Value (PV)</vt:lpstr>
      <vt:lpstr>Models for Developing PV Understanding  </vt:lpstr>
      <vt:lpstr>More Models for Developing PV Understanding  </vt:lpstr>
      <vt:lpstr>Teaching Place Value:  Beginning</vt:lpstr>
      <vt:lpstr>Representing Numbers using Place Value</vt:lpstr>
      <vt:lpstr>Extending Place Value</vt:lpstr>
      <vt:lpstr>Standards - Objectives - Assessments</vt:lpstr>
      <vt:lpstr>What is a fraction?</vt:lpstr>
      <vt:lpstr>                          Meanings of Fractions</vt:lpstr>
      <vt:lpstr>                           Models of Fractions</vt:lpstr>
      <vt:lpstr>     Models of Fractions</vt:lpstr>
      <vt:lpstr>  Teaching Fractions</vt:lpstr>
      <vt:lpstr>Developing Fraction Ideas (PDESAS Standards)</vt:lpstr>
      <vt:lpstr>Developing Fraction Ideas (PDESAS Standards)</vt:lpstr>
      <vt:lpstr>Developing Fraction Ideas (PDESAS Standards) </vt:lpstr>
      <vt:lpstr>Standards - Objectives - Assessments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KATHLEEN TAIT</cp:lastModifiedBy>
  <cp:revision>1</cp:revision>
  <dcterms:modified xsi:type="dcterms:W3CDTF">2025-10-28T01:21:25Z</dcterms:modified>
</cp:coreProperties>
</file>