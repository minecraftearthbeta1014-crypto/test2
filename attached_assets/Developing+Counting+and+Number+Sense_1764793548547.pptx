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Comic Sans MS" panose="030F0902030302020204" pitchFamily="66" charset="0"/>
      <p:regular r:id="rId20"/>
    </p:embeddedFont>
    <p:embeddedFont>
      <p:font typeface="Georgia" panose="02040502050405020303" pitchFamily="18" charset="0"/>
      <p:regular r:id="rId21"/>
      <p:bold r:id="rId22"/>
      <p:italic r:id="rId23"/>
      <p:boldItalic r:id="rId24"/>
    </p:embeddedFont>
    <p:embeddedFont>
      <p:font typeface="Lobster" pitchFamily="2" charset="77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0"/>
  </p:normalViewPr>
  <p:slideViewPr>
    <p:cSldViewPr snapToGrid="0">
      <p:cViewPr varScale="1">
        <p:scale>
          <a:sx n="142" d="100"/>
          <a:sy n="142" d="100"/>
        </p:scale>
        <p:origin x="76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fb3264dcf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fb3264dcf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fb3264dcf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fb3264dcf8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fb3264dcf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fb3264dcf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fb3264dcf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fb3264dcf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fb3264dcf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fb3264dcf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fb3264dcf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fb3264dcf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fb3264dcf8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fb3264dcf8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fb3264dcf8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fb3264dcf8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b3264dcf8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fb3264dcf8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fb3264dcf8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fb3264dcf8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fb3264dcf8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fb3264dcf8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fb3264dcf8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fb3264dcf8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fb3264dcf8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fb3264dcf8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fb3264dcf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fb3264dcf8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fb3264dcf8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fb3264dcf8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fb3264dcf8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fb3264dcf8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1C23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jp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jp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jpg"/><Relationship Id="rId5" Type="http://schemas.openxmlformats.org/officeDocument/2006/relationships/image" Target="../media/image54.png"/><Relationship Id="rId4" Type="http://schemas.openxmlformats.org/officeDocument/2006/relationships/image" Target="../media/image5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097000"/>
            <a:ext cx="8520600" cy="25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44" b="1">
                <a:solidFill>
                  <a:srgbClr val="660000"/>
                </a:solidFill>
                <a:latin typeface="Lobster"/>
                <a:ea typeface="Lobster"/>
                <a:cs typeface="Lobster"/>
                <a:sym typeface="Lobster"/>
              </a:rPr>
              <a:t>Developing Counting and Number Sense</a:t>
            </a:r>
            <a:endParaRPr sz="6644" b="1">
              <a:solidFill>
                <a:srgbClr val="660000"/>
              </a:solidFill>
              <a:latin typeface="Lobster"/>
              <a:ea typeface="Lobster"/>
              <a:cs typeface="Lobster"/>
              <a:sym typeface="Lobs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650" y="2787250"/>
            <a:ext cx="4241501" cy="212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5675" y="2908450"/>
            <a:ext cx="2988499" cy="206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7325" y="99175"/>
            <a:ext cx="1734924" cy="92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525" y="99175"/>
            <a:ext cx="1008901" cy="1072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47300" y="125525"/>
            <a:ext cx="8520600" cy="7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" sz="5244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is Number Sense?</a:t>
            </a:r>
            <a:r>
              <a:rPr lang="en" sz="4244"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11700" y="1020275"/>
            <a:ext cx="8520600" cy="37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An understanding of number concepts and operations on these numbers.</a:t>
            </a:r>
            <a:endParaRPr sz="19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development of useful strategies for handling numbers and operations.</a:t>
            </a:r>
            <a:endParaRPr sz="19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facility to compute accurately and efficiently, to detect errors and to recognize results as reasonable.</a:t>
            </a:r>
            <a:endParaRPr sz="19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ability and inclination to use this understanding in flexible ways to make mathematical judgments.</a:t>
            </a:r>
            <a:endParaRPr sz="19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An expectation that numbers are useful and that work with numbers is meaningful and makes sense.</a:t>
            </a:r>
            <a:endParaRPr sz="19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62550" y="169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020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 Stages of Number Sense</a:t>
            </a:r>
            <a:endParaRPr sz="4020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Number sense is not a finite entity that a student either has or does not have.  Its development is a lifelong process, and in early childhood and elementary school number sense development involves several stages:</a:t>
            </a:r>
            <a:endParaRPr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		Prenumber Development</a:t>
            </a:r>
            <a:endParaRPr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		Early Number Development</a:t>
            </a:r>
            <a:endParaRPr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		Number Development</a:t>
            </a:r>
            <a:endParaRPr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0363" y="2571750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4225" y="2360438"/>
            <a:ext cx="173355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0300" y="3745726"/>
            <a:ext cx="2143125" cy="12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47275" y="191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</a:t>
            </a:r>
            <a:r>
              <a:rPr lang="en" sz="4355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Prenumber Development</a:t>
            </a:r>
            <a:endParaRPr sz="4355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Basis for building number sense without the actual use of numbers.</a:t>
            </a:r>
            <a:endParaRPr sz="24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		Classification</a:t>
            </a:r>
            <a:endParaRPr sz="24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		Patterns</a:t>
            </a:r>
            <a:endParaRPr sz="24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9388" y="1991113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525" y="3338675"/>
            <a:ext cx="270510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2988" y="2058938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-492525" y="169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           </a:t>
            </a:r>
            <a:r>
              <a:rPr lang="en" sz="4355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CLASSIFICATION</a:t>
            </a:r>
            <a:endParaRPr sz="4355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Classifying objects in different ways fosters the development of reasoning and thinking skills.</a:t>
            </a:r>
            <a:endParaRPr sz="28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8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Helps the child to become a flexible thinker</a:t>
            </a:r>
            <a:endParaRPr sz="28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97" y="3804367"/>
            <a:ext cx="1900400" cy="1264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3200" y="99312"/>
            <a:ext cx="1735800" cy="124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02050" y="3645550"/>
            <a:ext cx="1900400" cy="142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4636958">
            <a:off x="341646" y="-657"/>
            <a:ext cx="1015385" cy="135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234600" y="158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00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Classification</a:t>
            </a:r>
            <a:endParaRPr sz="3900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8" name="Google Shape;9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Attribute blocks provide an excellent model for classification activities and help develop logical thinking.</a:t>
            </a:r>
            <a:endParaRPr sz="24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727" y="2440977"/>
            <a:ext cx="2877626" cy="212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7404" y="387004"/>
            <a:ext cx="1115650" cy="111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2725" y="2017650"/>
            <a:ext cx="1487275" cy="297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1725" y="2696463"/>
            <a:ext cx="2647950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245600" y="180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</a:t>
            </a:r>
            <a:r>
              <a:rPr lang="en" sz="4333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PATTERNS</a:t>
            </a:r>
            <a:endParaRPr sz="4333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8" name="Google Shape;108;p19"/>
          <p:cNvSpPr txBox="1">
            <a:spLocks noGrp="1"/>
          </p:cNvSpPr>
          <p:nvPr>
            <p:ph type="body" idx="1"/>
          </p:nvPr>
        </p:nvSpPr>
        <p:spPr>
          <a:xfrm>
            <a:off x="311700" y="10643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Creating, constructing, and describing patterns require problem-solving skills and constitute an important part of mathematics learning. Copying, finding and extending patterns are important to building number sense.</a:t>
            </a:r>
            <a:endParaRPr sz="21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1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863" y="283780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1238" y="2571738"/>
            <a:ext cx="1876425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2775" y="2571738"/>
            <a:ext cx="3028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3821" y="87325"/>
            <a:ext cx="2538100" cy="93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37275" y="185375"/>
            <a:ext cx="9002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88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EARLY NUMBER DEVELOPMENT</a:t>
            </a:r>
            <a:endParaRPr sz="3688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1"/>
          </p:nvPr>
        </p:nvSpPr>
        <p:spPr>
          <a:xfrm>
            <a:off x="124375" y="10643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Making comparisons and recognizing more and less of quantities may be done without counting, and may also provide opportunities for counting.</a:t>
            </a:r>
            <a:endParaRPr sz="21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	Conservation</a:t>
            </a:r>
            <a:endParaRPr sz="21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	Group Recognition</a:t>
            </a:r>
            <a:endParaRPr sz="21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	Comparisons &amp; One to One Correspondence</a:t>
            </a:r>
            <a:endParaRPr sz="21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4738" y="2077563"/>
            <a:ext cx="1800225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0188" y="1950847"/>
            <a:ext cx="2043625" cy="124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7425" y="3876975"/>
            <a:ext cx="1636950" cy="111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52751" y="414800"/>
            <a:ext cx="1109422" cy="1052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311700" y="268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</a:t>
            </a:r>
            <a:r>
              <a:rPr lang="en" sz="3244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CONSERVATION OF NUMBERS</a:t>
            </a:r>
            <a:endParaRPr sz="3244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8" name="Google Shape;12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A given number does not vary!</a:t>
            </a:r>
            <a:endParaRPr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Groups of 3 stars are arranged in four different ways. There are always 3 in each circle regardless of arrangement.</a:t>
            </a:r>
            <a:endParaRPr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825" y="2571750"/>
            <a:ext cx="7857424" cy="187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311700" y="301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</a:t>
            </a:r>
            <a:r>
              <a:rPr lang="en" sz="3244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GROUP RECOGNITION</a:t>
            </a:r>
            <a:endParaRPr sz="3244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1"/>
          </p:nvPr>
        </p:nvSpPr>
        <p:spPr>
          <a:xfrm>
            <a:off x="0" y="1152475"/>
            <a:ext cx="914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skill to “instantly see how many” in a group is called </a:t>
            </a:r>
            <a:r>
              <a:rPr lang="en" sz="2000" i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subitizing</a:t>
            </a:r>
            <a:r>
              <a:rPr lang="en" sz="20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. It is an important skill to develop.  Recognizing groups of up to five or six is important for:</a:t>
            </a:r>
            <a:endParaRPr sz="20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	Saves time</a:t>
            </a:r>
            <a:endParaRPr sz="20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	Forerunner of number ideas (different ways to represent a number)</a:t>
            </a:r>
            <a:endParaRPr sz="20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	Develops more sophisticated counting skills (counting up)</a:t>
            </a:r>
            <a:endParaRPr sz="20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	Accelerates the development of addition and subtraction</a:t>
            </a:r>
            <a:endParaRPr sz="20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6376" y="89688"/>
            <a:ext cx="1269302" cy="99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8179" y="3363675"/>
            <a:ext cx="967500" cy="1205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3000" y="1985000"/>
            <a:ext cx="967501" cy="96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-173050" y="262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lang="en" sz="3244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GROUP RECOGNITION/SUBITIZING</a:t>
            </a:r>
            <a:endParaRPr sz="3244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38" y="3020125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2688" y="1275975"/>
            <a:ext cx="3076575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6637" y="1487302"/>
            <a:ext cx="1913650" cy="270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06825" y="217509"/>
            <a:ext cx="1847850" cy="1324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57662" y="2282800"/>
            <a:ext cx="1847850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249450" y="345875"/>
            <a:ext cx="864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COMPARISONS &amp; ONE TO ONE CORRESPONDENCE</a:t>
            </a:r>
            <a:endParaRPr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4" name="Google Shape;154;p24"/>
          <p:cNvSpPr txBox="1">
            <a:spLocks noGrp="1"/>
          </p:cNvSpPr>
          <p:nvPr>
            <p:ph type="body" idx="1"/>
          </p:nvPr>
        </p:nvSpPr>
        <p:spPr>
          <a:xfrm>
            <a:off x="311700" y="918575"/>
            <a:ext cx="87771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for making comparisons by (a) counting; (b) physically comparing without counting; and (c) one-to-one correspondence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55" name="Google Shape;1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600" y="1856025"/>
            <a:ext cx="6830475" cy="27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 txBox="1"/>
          <p:nvPr/>
        </p:nvSpPr>
        <p:spPr>
          <a:xfrm>
            <a:off x="4572000" y="4592675"/>
            <a:ext cx="45168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Reys/ Lindquist/ Lamdin/ Smith, </a:t>
            </a:r>
            <a:r>
              <a:rPr lang="en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Helping Children Learn Math,</a:t>
            </a:r>
            <a:endParaRPr sz="12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10th Edition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>
            <a:spLocks noGrp="1"/>
          </p:cNvSpPr>
          <p:nvPr>
            <p:ph type="title"/>
          </p:nvPr>
        </p:nvSpPr>
        <p:spPr>
          <a:xfrm>
            <a:off x="311700" y="279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</a:t>
            </a:r>
            <a:r>
              <a:rPr lang="en" sz="3244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NUMBER DEVELOPMENT</a:t>
            </a:r>
            <a:endParaRPr sz="3244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-Connecting groups with number names, including oral and written cardinal and ordinal numbers</a:t>
            </a:r>
            <a:endParaRPr sz="25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- Group recognition</a:t>
            </a:r>
            <a:endParaRPr sz="25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- Counting forward and backward</a:t>
            </a:r>
            <a:endParaRPr sz="25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- Skip counting</a:t>
            </a:r>
            <a:endParaRPr sz="25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- Establishing benchmarks of quantities, such as 5 or 10</a:t>
            </a:r>
            <a:endParaRPr sz="25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5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75" y="3633375"/>
            <a:ext cx="36766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1125" y="1771650"/>
            <a:ext cx="239825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345" y="119995"/>
            <a:ext cx="1662225" cy="11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97142" y="3547425"/>
            <a:ext cx="1034782" cy="15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>
            <a:spLocks noGrp="1"/>
          </p:cNvSpPr>
          <p:nvPr>
            <p:ph type="title"/>
          </p:nvPr>
        </p:nvSpPr>
        <p:spPr>
          <a:xfrm>
            <a:off x="113400" y="169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</a:t>
            </a:r>
            <a:r>
              <a:rPr lang="en" sz="3244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COUNTING PRINCIPLES</a:t>
            </a:r>
            <a:endParaRPr sz="3244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2" name="Google Shape;172;p26"/>
          <p:cNvSpPr txBox="1">
            <a:spLocks noGrp="1"/>
          </p:cNvSpPr>
          <p:nvPr>
            <p:ph type="body" idx="1"/>
          </p:nvPr>
        </p:nvSpPr>
        <p:spPr>
          <a:xfrm>
            <a:off x="113400" y="1017725"/>
            <a:ext cx="8821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One-to-One Rule each object assigned one number</a:t>
            </a:r>
            <a:endParaRPr sz="28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683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28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Stable-Order Rule the order for counting objects is done in a fixed order</a:t>
            </a:r>
            <a:endParaRPr sz="28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683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28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Order Irrelevance Rule the order with which that objects are counted doesn’t matter</a:t>
            </a:r>
            <a:endParaRPr sz="28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Cardinality Rule last numbered object is the number given for the amount of objects</a:t>
            </a:r>
            <a:endParaRPr sz="28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3" name="Google Shape;17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9624" y="253324"/>
            <a:ext cx="893550" cy="134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5250" y="3707800"/>
            <a:ext cx="1342751" cy="1342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950" y="109275"/>
            <a:ext cx="893550" cy="908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3025" y="4006774"/>
            <a:ext cx="1863475" cy="113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0472" y="4128363"/>
            <a:ext cx="893550" cy="89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title"/>
          </p:nvPr>
        </p:nvSpPr>
        <p:spPr>
          <a:xfrm>
            <a:off x="311700" y="169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</a:t>
            </a:r>
            <a:r>
              <a:rPr lang="en" sz="3244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COUNTING STAGES</a:t>
            </a:r>
            <a:endParaRPr sz="3244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3" name="Google Shape;183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A04DA3"/>
                </a:solidFill>
                <a:latin typeface="Georgia"/>
                <a:ea typeface="Georgia"/>
                <a:cs typeface="Georgia"/>
                <a:sym typeface="Georgia"/>
              </a:rPr>
              <a:t>•</a:t>
            </a:r>
            <a:r>
              <a:rPr lang="en" sz="2400" b="1" i="1">
                <a:solidFill>
                  <a:srgbClr val="CC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Rote Counters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4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 know the proper counting sequence, but they may not always be able to maintain a correct correspondence between the objects being counted and the number names.</a:t>
            </a: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1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1">
                <a:solidFill>
                  <a:srgbClr val="A04DA3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</a:t>
            </a:r>
            <a:r>
              <a:rPr lang="en" sz="2400" b="1" i="1">
                <a:solidFill>
                  <a:srgbClr val="CC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Rational Counters</a:t>
            </a:r>
            <a:r>
              <a:rPr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4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 only uses one-to-one </a:t>
            </a:r>
            <a:endParaRPr sz="24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correspondence but also are able to answer </a:t>
            </a:r>
            <a:endParaRPr sz="24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question about the number of objects </a:t>
            </a:r>
            <a:endParaRPr sz="24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being counted. </a:t>
            </a:r>
            <a:endParaRPr sz="24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146" y="3704800"/>
            <a:ext cx="1597050" cy="119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8725" y="2335575"/>
            <a:ext cx="2796700" cy="18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</a:t>
            </a:r>
            <a:r>
              <a:rPr lang="en" sz="3244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COUNTING STRATEGIES</a:t>
            </a:r>
            <a:endParaRPr sz="3244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1" name="Google Shape;191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-Counting on</a:t>
            </a:r>
            <a:endParaRPr sz="25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-Counting back</a:t>
            </a:r>
            <a:endParaRPr sz="25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-Skip counting</a:t>
            </a:r>
            <a:endParaRPr sz="25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2" name="Google Shape;19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975" y="3330938"/>
            <a:ext cx="274320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8600" y="3430963"/>
            <a:ext cx="31051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2350" y="1366488"/>
            <a:ext cx="3219450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06050" y="59238"/>
            <a:ext cx="57150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34800" y="1185513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>
            <a:spLocks noGrp="1"/>
          </p:cNvSpPr>
          <p:nvPr>
            <p:ph type="title"/>
          </p:nvPr>
        </p:nvSpPr>
        <p:spPr>
          <a:xfrm>
            <a:off x="55075" y="191650"/>
            <a:ext cx="8777100" cy="10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CARDINAL, ORDINAL AND NOMINAL       </a:t>
            </a:r>
            <a:endParaRPr sz="2920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20" b="1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NUMBERS</a:t>
            </a:r>
            <a:endParaRPr sz="2920" b="1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2" name="Google Shape;202;p29"/>
          <p:cNvSpPr txBox="1">
            <a:spLocks noGrp="1"/>
          </p:cNvSpPr>
          <p:nvPr>
            <p:ph type="body" idx="1"/>
          </p:nvPr>
        </p:nvSpPr>
        <p:spPr>
          <a:xfrm>
            <a:off x="245600" y="11719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Cardinal- “How many?”</a:t>
            </a:r>
            <a:endParaRPr sz="24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Ordinal- “Which one?” (i.e. first, second, third)</a:t>
            </a:r>
            <a:endParaRPr sz="24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783F04"/>
                </a:solidFill>
                <a:latin typeface="Comic Sans MS"/>
                <a:ea typeface="Comic Sans MS"/>
                <a:cs typeface="Comic Sans MS"/>
                <a:sym typeface="Comic Sans MS"/>
              </a:rPr>
              <a:t>Nominal- “Name” (i.e. phone number or address)</a:t>
            </a:r>
            <a:endParaRPr sz="2400"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rgbClr val="783F04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03" name="Google Shape;20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50" y="2933413"/>
            <a:ext cx="3028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0250" y="3341038"/>
            <a:ext cx="3028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2025" y="723145"/>
            <a:ext cx="1822950" cy="91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6397" y="2648123"/>
            <a:ext cx="2178577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1024</Words>
  <Application>Microsoft Macintosh PowerPoint</Application>
  <PresentationFormat>On-screen Show (16:9)</PresentationFormat>
  <Paragraphs>73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Times New Roman</vt:lpstr>
      <vt:lpstr>Georgia</vt:lpstr>
      <vt:lpstr>Lobster</vt:lpstr>
      <vt:lpstr>Comic Sans MS</vt:lpstr>
      <vt:lpstr>Arial</vt:lpstr>
      <vt:lpstr>Simple Light</vt:lpstr>
      <vt:lpstr>Developing Counting and Number Sense </vt:lpstr>
      <vt:lpstr> What is Number Sense?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vt:lpstr>
      <vt:lpstr>  Stages of Number Sense</vt:lpstr>
      <vt:lpstr>           Prenumber Development</vt:lpstr>
      <vt:lpstr>              CLASSIFICATION</vt:lpstr>
      <vt:lpstr>            Classification</vt:lpstr>
      <vt:lpstr>                 PATTERNS</vt:lpstr>
      <vt:lpstr>EARLY NUMBER DEVELOPMENT</vt:lpstr>
      <vt:lpstr>               CONSERVATION OF NUMBERS</vt:lpstr>
      <vt:lpstr>                       GROUP RECOGNITION</vt:lpstr>
      <vt:lpstr>  GROUP RECOGNITION/SUBITIZING</vt:lpstr>
      <vt:lpstr>COMPARISONS &amp; ONE TO ONE CORRESPONDENCE</vt:lpstr>
      <vt:lpstr>             NUMBER DEVELOPMENT</vt:lpstr>
      <vt:lpstr>               COUNTING PRINCIPLES</vt:lpstr>
      <vt:lpstr>               COUNTING STAGES</vt:lpstr>
      <vt:lpstr>              COUNTING STRATEGIES</vt:lpstr>
      <vt:lpstr>    CARDINAL, ORDINAL AND NOMINAL                            NUMBERS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Counting and Number Sense </dc:title>
  <cp:lastModifiedBy>KATHLEEN TAIT</cp:lastModifiedBy>
  <cp:revision>1</cp:revision>
  <dcterms:modified xsi:type="dcterms:W3CDTF">2023-10-23T00:48:26Z</dcterms:modified>
</cp:coreProperties>
</file>