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1"/>
    <p:restoredTop sz="94666"/>
  </p:normalViewPr>
  <p:slideViewPr>
    <p:cSldViewPr snapToGrid="0">
      <p:cViewPr varScale="1">
        <p:scale>
          <a:sx n="88" d="100"/>
          <a:sy n="88" d="100"/>
        </p:scale>
        <p:origin x="216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D2327B39-0BBC-47F1-AC82-CB5B3CCB0026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3886200" y="8686800"/>
            <a:ext cx="2971440" cy="45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E2D9B0E1-DD8D-44C6-A5F8-B2CE921BFC6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Master 17-1: The Data Analysis and Probability Standard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3886200" y="8686800"/>
            <a:ext cx="2971440" cy="45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CB443ECF-6C4B-425E-ACFF-06008D9E96D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Master 17-2: Why Teach Statistics and Probability?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3886200" y="8686800"/>
            <a:ext cx="2971440" cy="45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23208A2B-6909-43AC-827B-EC4DDFA88B7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Master 17-3: Steps of Data Analysis</a:t>
            </a: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3886200" y="8686800"/>
            <a:ext cx="2971440" cy="45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/>
          <a:lstStyle/>
          <a:p>
            <a:pPr algn="r">
              <a:lnSpc>
                <a:spcPct val="100000"/>
              </a:lnSpc>
            </a:pPr>
            <a:fld id="{3EC606A2-E692-4AAF-83D2-FE96324AB69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Master 17-4: Descriptive Statistics</a:t>
            </a: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stomShape 1"/>
          <p:cNvSpPr/>
          <p:nvPr/>
        </p:nvSpPr>
        <p:spPr>
          <a:xfrm>
            <a:off x="0" y="366840"/>
            <a:ext cx="9143640" cy="83520"/>
          </a:xfrm>
          <a:prstGeom prst="rect">
            <a:avLst/>
          </a:prstGeom>
          <a:solidFill>
            <a:srgbClr val="438086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CustomShape 2"/>
          <p:cNvSpPr/>
          <p:nvPr/>
        </p:nvSpPr>
        <p:spPr>
          <a:xfrm>
            <a:off x="0" y="0"/>
            <a:ext cx="9143640" cy="310680"/>
          </a:xfrm>
          <a:prstGeom prst="rect">
            <a:avLst/>
          </a:prstGeom>
          <a:solidFill>
            <a:srgbClr val="4244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CustomShape 3"/>
          <p:cNvSpPr/>
          <p:nvPr/>
        </p:nvSpPr>
        <p:spPr>
          <a:xfrm>
            <a:off x="0" y="307800"/>
            <a:ext cx="9143640" cy="91800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CustomShape 4"/>
          <p:cNvSpPr/>
          <p:nvPr/>
        </p:nvSpPr>
        <p:spPr>
          <a:xfrm flipV="1">
            <a:off x="5410080" y="359640"/>
            <a:ext cx="3733560" cy="90000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CustomShape 5"/>
          <p:cNvSpPr/>
          <p:nvPr/>
        </p:nvSpPr>
        <p:spPr>
          <a:xfrm flipV="1">
            <a:off x="5410080" y="438840"/>
            <a:ext cx="3733560" cy="180720"/>
          </a:xfrm>
          <a:prstGeom prst="rect">
            <a:avLst/>
          </a:prstGeom>
          <a:solidFill>
            <a:srgbClr val="438086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CustomShape 6"/>
          <p:cNvSpPr/>
          <p:nvPr/>
        </p:nvSpPr>
        <p:spPr>
          <a:xfrm>
            <a:off x="5407200" y="496800"/>
            <a:ext cx="3063240" cy="28440"/>
          </a:xfrm>
          <a:custGeom>
            <a:avLst/>
            <a:gdLst/>
            <a:ahLst/>
            <a:cxnLst/>
            <a:rect l="l" t="t" r="r" b="b"/>
            <a:pathLst>
              <a:path w="8512" h="82">
                <a:moveTo>
                  <a:pt x="13" y="0"/>
                </a:moveTo>
                <a:cubicBezTo>
                  <a:pt x="6" y="0"/>
                  <a:pt x="0" y="6"/>
                  <a:pt x="0" y="13"/>
                </a:cubicBezTo>
                <a:lnTo>
                  <a:pt x="0" y="67"/>
                </a:lnTo>
                <a:cubicBezTo>
                  <a:pt x="0" y="74"/>
                  <a:pt x="6" y="81"/>
                  <a:pt x="13" y="81"/>
                </a:cubicBezTo>
                <a:lnTo>
                  <a:pt x="8497" y="81"/>
                </a:lnTo>
                <a:cubicBezTo>
                  <a:pt x="8504" y="81"/>
                  <a:pt x="8511" y="74"/>
                  <a:pt x="8511" y="67"/>
                </a:cubicBezTo>
                <a:lnTo>
                  <a:pt x="8511" y="13"/>
                </a:lnTo>
                <a:cubicBezTo>
                  <a:pt x="8511" y="6"/>
                  <a:pt x="8504" y="0"/>
                  <a:pt x="8497" y="0"/>
                </a:cubicBezTo>
                <a:lnTo>
                  <a:pt x="13" y="0"/>
                </a:lnTo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CustomShape 7"/>
          <p:cNvSpPr/>
          <p:nvPr/>
        </p:nvSpPr>
        <p:spPr>
          <a:xfrm>
            <a:off x="7373880" y="588960"/>
            <a:ext cx="1599840" cy="36000"/>
          </a:xfrm>
          <a:custGeom>
            <a:avLst/>
            <a:gdLst/>
            <a:ahLst/>
            <a:cxnLst/>
            <a:rect l="l" t="t" r="r" b="b"/>
            <a:pathLst>
              <a:path w="4447" h="103">
                <a:moveTo>
                  <a:pt x="17" y="0"/>
                </a:moveTo>
                <a:cubicBezTo>
                  <a:pt x="8" y="0"/>
                  <a:pt x="0" y="8"/>
                  <a:pt x="0" y="17"/>
                </a:cubicBezTo>
                <a:lnTo>
                  <a:pt x="0" y="85"/>
                </a:lnTo>
                <a:cubicBezTo>
                  <a:pt x="0" y="93"/>
                  <a:pt x="8" y="102"/>
                  <a:pt x="17" y="102"/>
                </a:cubicBezTo>
                <a:lnTo>
                  <a:pt x="4429" y="102"/>
                </a:lnTo>
                <a:cubicBezTo>
                  <a:pt x="4437" y="102"/>
                  <a:pt x="4446" y="93"/>
                  <a:pt x="4446" y="85"/>
                </a:cubicBezTo>
                <a:lnTo>
                  <a:pt x="4446" y="17"/>
                </a:lnTo>
                <a:cubicBezTo>
                  <a:pt x="4446" y="8"/>
                  <a:pt x="4437" y="0"/>
                  <a:pt x="4429" y="0"/>
                </a:cubicBezTo>
                <a:lnTo>
                  <a:pt x="17" y="0"/>
                </a:lnTo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CustomShape 8"/>
          <p:cNvSpPr/>
          <p:nvPr/>
        </p:nvSpPr>
        <p:spPr>
          <a:xfrm>
            <a:off x="9085320" y="-1440"/>
            <a:ext cx="56880" cy="620280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CustomShape 9"/>
          <p:cNvSpPr/>
          <p:nvPr/>
        </p:nvSpPr>
        <p:spPr>
          <a:xfrm>
            <a:off x="9043920" y="-1440"/>
            <a:ext cx="28440" cy="620280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CustomShape 10"/>
          <p:cNvSpPr/>
          <p:nvPr/>
        </p:nvSpPr>
        <p:spPr>
          <a:xfrm>
            <a:off x="9024840" y="-1440"/>
            <a:ext cx="9360" cy="62028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CustomShape 11"/>
          <p:cNvSpPr/>
          <p:nvPr/>
        </p:nvSpPr>
        <p:spPr>
          <a:xfrm>
            <a:off x="8975880" y="-1440"/>
            <a:ext cx="26640" cy="62028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CustomShape 12"/>
          <p:cNvSpPr/>
          <p:nvPr/>
        </p:nvSpPr>
        <p:spPr>
          <a:xfrm>
            <a:off x="8915400" y="0"/>
            <a:ext cx="55080" cy="5853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13"/>
          <p:cNvSpPr/>
          <p:nvPr/>
        </p:nvSpPr>
        <p:spPr>
          <a:xfrm>
            <a:off x="8874000" y="0"/>
            <a:ext cx="7560" cy="58536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PlaceHolder 1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4" name="PlaceHolder 1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ensus.gov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4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2057400"/>
            <a:ext cx="9143640" cy="3123720"/>
          </a:xfrm>
          <a:prstGeom prst="rect">
            <a:avLst/>
          </a:prstGeom>
          <a:solidFill>
            <a:srgbClr val="FFFFFF"/>
          </a:solidFill>
          <a:ln w="19080">
            <a:solidFill>
              <a:srgbClr val="3B3B6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" name="CustomShape 2"/>
          <p:cNvSpPr/>
          <p:nvPr/>
        </p:nvSpPr>
        <p:spPr>
          <a:xfrm>
            <a:off x="304920" y="2209680"/>
            <a:ext cx="5486040" cy="310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 algn="ctr">
              <a:lnSpc>
                <a:spcPct val="100000"/>
              </a:lnSpc>
            </a:pPr>
            <a:r>
              <a:rPr lang="en-US" sz="2800" b="1" i="1" strike="noStrike" spc="-1">
                <a:solidFill>
                  <a:srgbClr val="000000"/>
                </a:solidFill>
                <a:latin typeface="Georgia"/>
              </a:rPr>
              <a:t>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</a:pPr>
            <a:r>
              <a:rPr lang="en-US" sz="4000" b="0" i="1" strike="noStrike" spc="-1">
                <a:solidFill>
                  <a:srgbClr val="934C22"/>
                </a:solidFill>
                <a:latin typeface="Times New Roman"/>
                <a:ea typeface="Times New Roman"/>
              </a:rPr>
              <a:t>Data Analysis, Statistics and Probability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59" name="CustomShape 3"/>
          <p:cNvSpPr/>
          <p:nvPr/>
        </p:nvSpPr>
        <p:spPr>
          <a:xfrm>
            <a:off x="228600" y="914400"/>
            <a:ext cx="6705360" cy="1556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endParaRPr lang="en-US" sz="9600" b="0" strike="noStrike" spc="-1" dirty="0">
              <a:latin typeface="Arial"/>
            </a:endParaRPr>
          </a:p>
        </p:txBody>
      </p:sp>
      <p:sp>
        <p:nvSpPr>
          <p:cNvPr id="60" name="CustomShape 4"/>
          <p:cNvSpPr/>
          <p:nvPr/>
        </p:nvSpPr>
        <p:spPr>
          <a:xfrm>
            <a:off x="2946240" y="6027840"/>
            <a:ext cx="6197400" cy="823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endParaRPr lang="en-US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DEDEDE"/>
                </a:solidFill>
                <a:latin typeface="Times New Roman"/>
                <a:ea typeface="DejaVu Sans"/>
              </a:rPr>
              <a:t>To accompany </a:t>
            </a:r>
            <a:r>
              <a:rPr lang="en-US" sz="1200" b="0" i="1" strike="noStrike" spc="-1">
                <a:solidFill>
                  <a:srgbClr val="DEDEDE"/>
                </a:solidFill>
                <a:latin typeface="Times New Roman"/>
                <a:ea typeface="DejaVu Sans"/>
              </a:rPr>
              <a:t>Helping Children Learn Mathematics </a:t>
            </a:r>
            <a:r>
              <a:rPr lang="en-US" sz="1200" b="0" strike="noStrike" spc="-1">
                <a:solidFill>
                  <a:srgbClr val="DEDEDE"/>
                </a:solidFill>
                <a:latin typeface="Times New Roman"/>
                <a:ea typeface="DejaVu Sans"/>
              </a:rPr>
              <a:t>11e</a:t>
            </a:r>
            <a:r>
              <a:rPr lang="en-US" sz="1200" b="0" i="1" strike="noStrike" spc="-1">
                <a:solidFill>
                  <a:srgbClr val="DEDEDE"/>
                </a:solidFill>
                <a:latin typeface="Times New Roman"/>
                <a:ea typeface="DejaVu Sans"/>
              </a:rPr>
              <a:t>, Reys et al.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DEDEDE"/>
                </a:solidFill>
                <a:latin typeface="Times New Roman"/>
                <a:ea typeface="DejaVu Sans"/>
              </a:rPr>
              <a:t>©2015 John Wiley &amp; Sons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 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1143000" y="53316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(For Data Analysis) Instructional programs from pre-k through grade 12 should enable all students to: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456840" y="1828440"/>
            <a:ext cx="8381520" cy="4343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Formulate questions that can be addressed with data and collect, organize, and display relevant data to answer them.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Select and use appropriate statistical methods to analyze data.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Develop and evaluate inferences and predictions that are based on data.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63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1142640" y="533160"/>
            <a:ext cx="84578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Why Teach Statistics and Probability?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65" name="CustomShape 2"/>
          <p:cNvSpPr/>
          <p:nvPr/>
        </p:nvSpPr>
        <p:spPr>
          <a:xfrm>
            <a:off x="457200" y="175248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609480" indent="-609120">
              <a:lnSpc>
                <a:spcPct val="100000"/>
              </a:lnSpc>
              <a:buClr>
                <a:srgbClr val="A04DA3"/>
              </a:buClr>
              <a:buFont typeface="Times"/>
              <a:buAutoNum type="arabicPeriod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Children encounter ideas of statistics and probability outside of school every day.</a:t>
            </a:r>
            <a:endParaRPr lang="en-US" sz="2800" b="0" strike="noStrike" spc="-1" dirty="0">
              <a:latin typeface="Arial"/>
            </a:endParaRPr>
          </a:p>
          <a:p>
            <a:pPr marL="609480" indent="-609120">
              <a:lnSpc>
                <a:spcPct val="100000"/>
              </a:lnSpc>
              <a:buClr>
                <a:srgbClr val="A04DA3"/>
              </a:buClr>
              <a:buFont typeface="Times"/>
              <a:buAutoNum type="arabicPeriod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Data analysis, statistics and probability provide connections to other mathematics topics or school subjects. </a:t>
            </a:r>
            <a:endParaRPr lang="en-US" sz="2800" b="0" strike="noStrike" spc="-1" dirty="0">
              <a:latin typeface="Arial"/>
            </a:endParaRPr>
          </a:p>
          <a:p>
            <a:pPr marL="609480" indent="-609120">
              <a:lnSpc>
                <a:spcPct val="100000"/>
              </a:lnSpc>
              <a:buClr>
                <a:srgbClr val="A04DA3"/>
              </a:buClr>
              <a:buFont typeface="Times"/>
              <a:buAutoNum type="arabicPeriod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Data analysis, statistics and probability provide opportunities for computational activity in a meaningful context.</a:t>
            </a:r>
            <a:endParaRPr lang="en-US" sz="2800" b="0" strike="noStrike" spc="-1" dirty="0">
              <a:latin typeface="Arial"/>
            </a:endParaRPr>
          </a:p>
          <a:p>
            <a:pPr marL="609480" indent="-609120">
              <a:lnSpc>
                <a:spcPct val="100000"/>
              </a:lnSpc>
              <a:buClr>
                <a:srgbClr val="A04DA3"/>
              </a:buClr>
              <a:buFont typeface="Georgia"/>
              <a:buAutoNum type="arabicPeriod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Data analysis, statistics, and probability provide opportunities for developing critical thinking skills.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66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114300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Three Steps of Data Analysis 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457200" y="190512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2800" b="0" strike="noStrike" spc="-1" dirty="0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Times"/>
              <a:buAutoNum type="arabicPeriod"/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1. Pose a question and collect data.</a:t>
            </a:r>
          </a:p>
          <a:p>
            <a:pPr marL="109800">
              <a:lnSpc>
                <a:spcPct val="100000"/>
              </a:lnSpc>
              <a:buClr>
                <a:srgbClr val="A04DA3"/>
              </a:buClr>
            </a:pPr>
            <a:endParaRPr lang="en-US" sz="2800" b="0" strike="noStrike" spc="-1" dirty="0">
              <a:latin typeface="Arial"/>
            </a:endParaRPr>
          </a:p>
          <a:p>
            <a:pPr marL="109800">
              <a:lnSpc>
                <a:spcPct val="100000"/>
              </a:lnSpc>
              <a:buClr>
                <a:srgbClr val="A04DA3"/>
              </a:buClr>
            </a:pPr>
            <a:r>
              <a:rPr lang="en-US" sz="2800" b="1" spc="-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2. Display collected data.</a:t>
            </a:r>
            <a:endParaRPr lang="en-US" sz="2800" b="0" strike="noStrike" spc="-1" dirty="0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Times"/>
              <a:buAutoNum type="arabicPeriod"/>
            </a:pPr>
            <a:endParaRPr lang="en-US" sz="2800" b="0" strike="noStrike" spc="-1" dirty="0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Times"/>
              <a:buAutoNum type="arabicPeriod"/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3. Analyze data and communicate results.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69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1143000" y="53316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Surveys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457200" y="167652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Survey data result from collecting information.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These data may range from a national public opinion poll or observing cars pass the window, to simply tallying the ages of students in a class.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Many different sets of real world data are available the U.S. Census Bureau Web site http://</a:t>
            </a:r>
            <a:r>
              <a:rPr lang="en-US" sz="2800" b="0" u="sng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hlinkClick r:id="rId2"/>
              </a:rPr>
              <a:t>www.census.gov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.  These data can be used for formulating questions, exploring trends, and statistical analysis.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121932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Experiments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457200" y="224964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Experiments may be somewhat more advanced than surveys.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When students conduct experiments, in addition to using observation and recording skills, they often incorporate the use of the scientiﬁc method 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75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21932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Simulations 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457200" y="224964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Although a simulation is similar to an experiment, random number tables or devices such as coins, dice, spinners, or computer programs are also used to model real-world occurrences.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1219320" y="609480"/>
            <a:ext cx="8229240" cy="106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Analyzing Data: Graphical Organization 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914400" y="1981080"/>
            <a:ext cx="2133360" cy="420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What do you notice about the graph?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How many children prefer apples?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What is the favorite fruit?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How many different fruits are shown?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How many children contributed to the graph?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81" name="Content Placeholder 8"/>
          <p:cNvPicPr/>
          <p:nvPr/>
        </p:nvPicPr>
        <p:blipFill>
          <a:blip r:embed="rId2"/>
          <a:stretch/>
        </p:blipFill>
        <p:spPr>
          <a:xfrm>
            <a:off x="3838680" y="2209680"/>
            <a:ext cx="4515840" cy="3312720"/>
          </a:xfrm>
          <a:prstGeom prst="rect">
            <a:avLst/>
          </a:prstGeom>
          <a:ln>
            <a:noFill/>
          </a:ln>
        </p:spPr>
      </p:pic>
      <p:sp>
        <p:nvSpPr>
          <p:cNvPr id="82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1143000" y="380880"/>
            <a:ext cx="8229240" cy="106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Quick and Easy Graphing Methods 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84" name="Picture 7"/>
          <p:cNvPicPr/>
          <p:nvPr/>
        </p:nvPicPr>
        <p:blipFill>
          <a:blip r:embed="rId2"/>
          <a:srcRect t="40969"/>
          <a:stretch/>
        </p:blipFill>
        <p:spPr>
          <a:xfrm>
            <a:off x="1295280" y="1447920"/>
            <a:ext cx="2666880" cy="4996800"/>
          </a:xfrm>
          <a:prstGeom prst="rect">
            <a:avLst/>
          </a:prstGeom>
          <a:ln>
            <a:noFill/>
          </a:ln>
        </p:spPr>
      </p:pic>
      <p:pic>
        <p:nvPicPr>
          <p:cNvPr id="85" name="Picture 9"/>
          <p:cNvPicPr/>
          <p:nvPr/>
        </p:nvPicPr>
        <p:blipFill>
          <a:blip r:embed="rId2"/>
          <a:srcRect b="60092"/>
          <a:stretch/>
        </p:blipFill>
        <p:spPr>
          <a:xfrm>
            <a:off x="4800600" y="1905120"/>
            <a:ext cx="3123720" cy="3957120"/>
          </a:xfrm>
          <a:prstGeom prst="rect">
            <a:avLst/>
          </a:prstGeom>
          <a:ln>
            <a:noFill/>
          </a:ln>
        </p:spPr>
      </p:pic>
      <p:sp>
        <p:nvSpPr>
          <p:cNvPr id="86" name="CustomShape 2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121932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Plots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533520" y="175248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8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r>
              <a:rPr lang="en-US" sz="28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plot 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is another type of graph used to visually display data.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8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Line plots 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line plot may be used to quickly display numerical data with a small range.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8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Stem-and-leaf plots 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stem-and-leaf plot is another quick way to display data and provides a quite different representation than when the data are arranged in a line plot or bar graph.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8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Box plots 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</a:t>
            </a:r>
            <a:r>
              <a:rPr lang="en-US" sz="28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box plot 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(also called a box-and-whisker plot) summarizes data and provides a visual means of showing variability—the spread of the data. T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8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21932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Plots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91" name="Content Placeholder 10"/>
          <p:cNvPicPr/>
          <p:nvPr/>
        </p:nvPicPr>
        <p:blipFill>
          <a:blip r:embed="rId2"/>
          <a:stretch/>
        </p:blipFill>
        <p:spPr>
          <a:xfrm>
            <a:off x="304920" y="2190600"/>
            <a:ext cx="3990600" cy="2965320"/>
          </a:xfrm>
          <a:prstGeom prst="rect">
            <a:avLst/>
          </a:prstGeom>
          <a:ln>
            <a:noFill/>
          </a:ln>
        </p:spPr>
      </p:pic>
      <p:pic>
        <p:nvPicPr>
          <p:cNvPr id="92" name="Picture 11"/>
          <p:cNvPicPr/>
          <p:nvPr/>
        </p:nvPicPr>
        <p:blipFill>
          <a:blip r:embed="rId3"/>
          <a:stretch/>
        </p:blipFill>
        <p:spPr>
          <a:xfrm>
            <a:off x="4495680" y="2209680"/>
            <a:ext cx="3998520" cy="2971440"/>
          </a:xfrm>
          <a:prstGeom prst="rect">
            <a:avLst/>
          </a:prstGeom>
          <a:ln>
            <a:noFill/>
          </a:ln>
        </p:spPr>
      </p:pic>
      <p:sp>
        <p:nvSpPr>
          <p:cNvPr id="93" name="CustomShape 2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114300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Box Plots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95" name="Content Placeholder 7"/>
          <p:cNvPicPr/>
          <p:nvPr/>
        </p:nvPicPr>
        <p:blipFill>
          <a:blip r:embed="rId2"/>
          <a:stretch/>
        </p:blipFill>
        <p:spPr>
          <a:xfrm>
            <a:off x="1447920" y="1752480"/>
            <a:ext cx="6241680" cy="4316040"/>
          </a:xfrm>
          <a:prstGeom prst="rect">
            <a:avLst/>
          </a:prstGeom>
          <a:ln>
            <a:noFill/>
          </a:ln>
        </p:spPr>
      </p:pic>
      <p:sp>
        <p:nvSpPr>
          <p:cNvPr id="96" name="CustomShape 2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14300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Picture Graphs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98" name="Content Placeholder 7"/>
          <p:cNvPicPr/>
          <p:nvPr/>
        </p:nvPicPr>
        <p:blipFill>
          <a:blip r:embed="rId2"/>
          <a:stretch/>
        </p:blipFill>
        <p:spPr>
          <a:xfrm>
            <a:off x="2133720" y="1600200"/>
            <a:ext cx="4909680" cy="4323960"/>
          </a:xfrm>
          <a:prstGeom prst="rect">
            <a:avLst/>
          </a:prstGeom>
          <a:ln>
            <a:noFill/>
          </a:ln>
        </p:spPr>
      </p:pic>
      <p:sp>
        <p:nvSpPr>
          <p:cNvPr id="99" name="CustomShape 2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106668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Bar Graphs and Histograms 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101" name="Content Placeholder 8"/>
          <p:cNvPicPr/>
          <p:nvPr/>
        </p:nvPicPr>
        <p:blipFill>
          <a:blip r:embed="rId2"/>
          <a:stretch/>
        </p:blipFill>
        <p:spPr>
          <a:xfrm>
            <a:off x="685800" y="2286000"/>
            <a:ext cx="3927240" cy="3769920"/>
          </a:xfrm>
          <a:prstGeom prst="rect">
            <a:avLst/>
          </a:prstGeom>
          <a:ln>
            <a:noFill/>
          </a:ln>
        </p:spPr>
      </p:pic>
      <p:pic>
        <p:nvPicPr>
          <p:cNvPr id="102" name="Picture 9"/>
          <p:cNvPicPr/>
          <p:nvPr/>
        </p:nvPicPr>
        <p:blipFill>
          <a:blip r:embed="rId3"/>
          <a:stretch/>
        </p:blipFill>
        <p:spPr>
          <a:xfrm>
            <a:off x="4876920" y="2438280"/>
            <a:ext cx="4034880" cy="3265200"/>
          </a:xfrm>
          <a:prstGeom prst="rect">
            <a:avLst/>
          </a:prstGeom>
          <a:ln>
            <a:noFill/>
          </a:ln>
        </p:spPr>
      </p:pic>
      <p:sp>
        <p:nvSpPr>
          <p:cNvPr id="103" name="CustomShape 2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1143000" y="53316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Pie Graphs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105" name="Content Placeholder 7"/>
          <p:cNvPicPr/>
          <p:nvPr/>
        </p:nvPicPr>
        <p:blipFill>
          <a:blip r:embed="rId2"/>
          <a:stretch/>
        </p:blipFill>
        <p:spPr>
          <a:xfrm>
            <a:off x="1600200" y="1752480"/>
            <a:ext cx="6241680" cy="3796920"/>
          </a:xfrm>
          <a:prstGeom prst="rect">
            <a:avLst/>
          </a:prstGeom>
          <a:ln>
            <a:noFill/>
          </a:ln>
        </p:spPr>
      </p:pic>
      <p:sp>
        <p:nvSpPr>
          <p:cNvPr id="106" name="CustomShape 2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1143000" y="53316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Line Graphs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457200" y="167652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Line graphs </a:t>
            </a: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are effective for showing trends over time. </a:t>
            </a:r>
            <a:endParaRPr lang="en-US" sz="2800" b="0" strike="noStrike" spc="-1">
              <a:latin typeface="Arial"/>
            </a:endParaRPr>
          </a:p>
        </p:txBody>
      </p:sp>
      <p:pic>
        <p:nvPicPr>
          <p:cNvPr id="109" name="Picture 7"/>
          <p:cNvPicPr/>
          <p:nvPr/>
        </p:nvPicPr>
        <p:blipFill>
          <a:blip r:embed="rId2"/>
          <a:stretch/>
        </p:blipFill>
        <p:spPr>
          <a:xfrm>
            <a:off x="1523880" y="2590920"/>
            <a:ext cx="6241680" cy="3565080"/>
          </a:xfrm>
          <a:prstGeom prst="rect">
            <a:avLst/>
          </a:prstGeom>
          <a:ln>
            <a:noFill/>
          </a:ln>
        </p:spPr>
      </p:pic>
      <p:sp>
        <p:nvSpPr>
          <p:cNvPr id="110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121932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Misleading Graphs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457200" y="160020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These different graphs of the same data demonstrate how graphs can distort and sometimes misrepresent information. 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13" name="Picture 9"/>
          <p:cNvPicPr/>
          <p:nvPr/>
        </p:nvPicPr>
        <p:blipFill>
          <a:blip r:embed="rId2"/>
          <a:stretch/>
        </p:blipFill>
        <p:spPr>
          <a:xfrm>
            <a:off x="5943600" y="2438280"/>
            <a:ext cx="2301480" cy="3843000"/>
          </a:xfrm>
          <a:prstGeom prst="rect">
            <a:avLst/>
          </a:prstGeom>
          <a:ln>
            <a:noFill/>
          </a:ln>
        </p:spPr>
      </p:pic>
      <p:pic>
        <p:nvPicPr>
          <p:cNvPr id="114" name="Picture 8"/>
          <p:cNvPicPr/>
          <p:nvPr/>
        </p:nvPicPr>
        <p:blipFill>
          <a:blip r:embed="rId3"/>
          <a:stretch/>
        </p:blipFill>
        <p:spPr>
          <a:xfrm>
            <a:off x="228600" y="3581280"/>
            <a:ext cx="5227200" cy="1847520"/>
          </a:xfrm>
          <a:prstGeom prst="rect">
            <a:avLst/>
          </a:prstGeom>
          <a:ln>
            <a:noFill/>
          </a:ln>
        </p:spPr>
      </p:pic>
      <p:sp>
        <p:nvSpPr>
          <p:cNvPr id="115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1219320" y="609480"/>
            <a:ext cx="8229240" cy="106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Analyzing Data: Descriptive Statistics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457200" y="190512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 algn="ctr">
              <a:lnSpc>
                <a:spcPct val="100000"/>
              </a:lnSpc>
            </a:pPr>
            <a:r>
              <a:rPr lang="en-US" sz="2800" b="1" u="sng" strike="noStrike" spc="-1">
                <a:solidFill>
                  <a:srgbClr val="3E3F68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Measure of Variation</a:t>
            </a:r>
            <a:endParaRPr lang="en-US" sz="2800" b="0" strike="noStrike" spc="-1">
              <a:latin typeface="Arial"/>
            </a:endParaRPr>
          </a:p>
          <a:p>
            <a:pPr marL="365040" indent="-255240"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3E3F68"/>
                </a:solidFill>
                <a:latin typeface="Times New Roman"/>
                <a:ea typeface="Times New Roman"/>
              </a:rPr>
              <a:t>Range - the variation or spread or a set of data</a:t>
            </a:r>
            <a:endParaRPr lang="en-US" sz="2800" b="0" strike="noStrike" spc="-1">
              <a:latin typeface="Arial"/>
            </a:endParaRPr>
          </a:p>
          <a:p>
            <a:pPr marL="365040" indent="-255240"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7B6AFC"/>
                </a:solidFill>
                <a:latin typeface="Times New Roman"/>
                <a:ea typeface="Times New Roman"/>
              </a:rPr>
              <a:t> </a:t>
            </a:r>
            <a:endParaRPr lang="en-US" sz="2800" b="0" strike="noStrike" spc="-1">
              <a:latin typeface="Arial"/>
            </a:endParaRPr>
          </a:p>
          <a:p>
            <a:pPr marL="365040" indent="-255240" algn="ctr">
              <a:lnSpc>
                <a:spcPct val="100000"/>
              </a:lnSpc>
            </a:pPr>
            <a:r>
              <a:rPr lang="en-US" sz="2800" b="1" u="sng" strike="noStrike" spc="-1">
                <a:solidFill>
                  <a:srgbClr val="C4652D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Measures of Central Tendency or Averages</a:t>
            </a:r>
            <a:endParaRPr lang="en-US" sz="2800" b="0" strike="noStrike" spc="-1">
              <a:latin typeface="Arial"/>
            </a:endParaRPr>
          </a:p>
          <a:p>
            <a:pPr marL="365040" indent="-255240" algn="ctr">
              <a:lnSpc>
                <a:spcPct val="100000"/>
              </a:lnSpc>
            </a:pPr>
            <a:r>
              <a:rPr lang="en-US" sz="2800" b="0" u="sng" strike="noStrike" spc="-1">
                <a:solidFill>
                  <a:srgbClr val="C4652D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Mode</a:t>
            </a:r>
            <a:r>
              <a:rPr lang="en-US" sz="2800" b="0" strike="noStrike" spc="-1">
                <a:solidFill>
                  <a:srgbClr val="C4652D"/>
                </a:solidFill>
                <a:latin typeface="Times New Roman"/>
                <a:ea typeface="Times New Roman"/>
              </a:rPr>
              <a:t>-the value that occurs most frequently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</a:pPr>
            <a:r>
              <a:rPr lang="en-US" sz="2800" b="0" strike="noStrike" spc="-1">
                <a:solidFill>
                  <a:srgbClr val="C4652D"/>
                </a:solidFill>
                <a:latin typeface="Times New Roman"/>
                <a:ea typeface="Times New Roman"/>
              </a:rPr>
              <a:t>          </a:t>
            </a:r>
            <a:r>
              <a:rPr lang="en-US" sz="2800" b="0" u="sng" strike="noStrike" spc="-1">
                <a:solidFill>
                  <a:srgbClr val="C4652D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Median</a:t>
            </a:r>
            <a:r>
              <a:rPr lang="en-US" sz="2800" b="0" strike="noStrike" spc="-1">
                <a:solidFill>
                  <a:srgbClr val="C4652D"/>
                </a:solidFill>
                <a:latin typeface="Times New Roman"/>
                <a:ea typeface="Times New Roman"/>
              </a:rPr>
              <a:t>-the middle value in a set of data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</a:pPr>
            <a:r>
              <a:rPr lang="en-US" sz="2800" b="0" strike="noStrike" spc="-1">
                <a:solidFill>
                  <a:srgbClr val="C4652D"/>
                </a:solidFill>
                <a:latin typeface="Times New Roman"/>
                <a:ea typeface="Times New Roman"/>
              </a:rPr>
              <a:t>          </a:t>
            </a:r>
            <a:r>
              <a:rPr lang="en-US" sz="2800" b="0" u="sng" strike="noStrike" spc="-1">
                <a:solidFill>
                  <a:srgbClr val="C4652D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</a:rPr>
              <a:t>Mean</a:t>
            </a:r>
            <a:r>
              <a:rPr lang="en-US" sz="2800" b="0" strike="noStrike" spc="-1">
                <a:solidFill>
                  <a:srgbClr val="C4652D"/>
                </a:solidFill>
                <a:latin typeface="Times New Roman"/>
                <a:ea typeface="Times New Roman"/>
              </a:rPr>
              <a:t>-the arithmetic average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1143000" y="45684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Data Sense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457200" y="160020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4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Reading the data.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student is able to answer specific questions for which the answer is prominently displayed. For example, “Which player averaged the most points?”</a:t>
            </a:r>
            <a:endParaRPr lang="en-US" sz="24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endParaRPr lang="en-US" sz="24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4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Reading between the data.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student is able to find relationships in the data such as comparison, and is able to operate on the data. For example, “How many players had a median less than their mean?”</a:t>
            </a:r>
            <a:endParaRPr lang="en-US" sz="24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endParaRPr lang="en-US" sz="2400" b="0" strike="noStrike" spc="-1">
              <a:latin typeface="Arial"/>
            </a:endParaRPr>
          </a:p>
          <a:p>
            <a:pPr marL="365040" indent="-255240">
              <a:lnSpc>
                <a:spcPct val="9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400" b="0" i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Reading beyond the data. </a:t>
            </a: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The student is able to predict or make inferences. For example, “Which player had the greatest range? The smallest range? What do these numbers tell you about the player?”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1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1143000" y="533160"/>
            <a:ext cx="8229240" cy="106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424456"/>
                </a:solidFill>
                <a:latin typeface="Times New Roman"/>
                <a:ea typeface="Times New Roman"/>
              </a:rPr>
              <a:t>Communicating Results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380880" y="1676520"/>
            <a:ext cx="8229240" cy="432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Once data have been collected, analyzed, and interpreted it is appropriate for students to communicate their ﬁndings.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Just as in problem solving, students should be encouraged to look back at their results.</a:t>
            </a: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endParaRPr lang="en-US" sz="2800" b="0" strike="noStrike" spc="-1">
              <a:latin typeface="Arial"/>
            </a:endParaRPr>
          </a:p>
          <a:p>
            <a:pPr marL="365040" indent="-255240">
              <a:lnSpc>
                <a:spcPct val="100000"/>
              </a:lnSpc>
              <a:buClr>
                <a:srgbClr val="A04DA3"/>
              </a:buClr>
              <a:buFont typeface="Georgia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Communication can help students clarify their ideas during this process. 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24" name="CustomShape 3"/>
          <p:cNvSpPr/>
          <p:nvPr/>
        </p:nvSpPr>
        <p:spPr>
          <a:xfrm>
            <a:off x="4343400" y="6248520"/>
            <a:ext cx="4712760" cy="45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Reys, Lindquist, Lamdin, &amp; Smith, 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Helping Children Learn Mathematics,</a:t>
            </a:r>
            <a:endParaRPr lang="en-US" sz="12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11th</a:t>
            </a:r>
            <a:r>
              <a:rPr lang="en-US" sz="1200" b="0" i="1" strike="noStrike" spc="-1" baseline="30000">
                <a:solidFill>
                  <a:srgbClr val="000000"/>
                </a:solidFill>
                <a:latin typeface="Times New Roman"/>
                <a:ea typeface="DejaVu Sans"/>
              </a:rPr>
              <a:t>th</a:t>
            </a:r>
            <a:r>
              <a:rPr lang="en-US" sz="12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Edition, © 2015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1123</Words>
  <Application>Microsoft Macintosh PowerPoint</Application>
  <PresentationFormat>On-screen Show (4:3)</PresentationFormat>
  <Paragraphs>125</Paragraphs>
  <Slides>20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Georgia</vt:lpstr>
      <vt:lpstr>Symbol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Analysis and Probability Standard</dc:title>
  <dc:subject/>
  <dc:creator>Hattie Williams</dc:creator>
  <dc:description/>
  <cp:lastModifiedBy>KATHLEEN TAIT</cp:lastModifiedBy>
  <cp:revision>41</cp:revision>
  <dcterms:created xsi:type="dcterms:W3CDTF">2000-08-14T11:47:09Z</dcterms:created>
  <dcterms:modified xsi:type="dcterms:W3CDTF">2025-12-03T02:14:00Z</dcterms:modified>
  <dc:language>en-US</dc:language>
</cp:coreProperties>
</file>