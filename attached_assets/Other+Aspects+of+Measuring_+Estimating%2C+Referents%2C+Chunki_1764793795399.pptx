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40" d="100"/>
          <a:sy n="140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slide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slide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slide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slide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slide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slide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lide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lide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lide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lide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hyperlink" Target="https://platform-teachingchannel-com.eu1.proxy.openathens.net/TeachingChannel/Detail/4796?search=Measurement" TargetMode="External"/><Relationship Id="rId4" Type="http://schemas.openxmlformats.org/officeDocument/2006/relationships/hyperlink" Target="https://platform-teachingchannel-com.eu1.proxy.openathens.net/TeachingChannel/Detail/5791?search=Measureme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hyperlink" Target="https://www.youtube.com/watch?si=US6Tt4RmFw8Tzhak&amp;v=JjKhSyUVFBI&amp;feature=youtu.b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watch?v=ypVQDZL18SQ" TargetMode="External"/><Relationship Id="rId5" Type="http://schemas.openxmlformats.org/officeDocument/2006/relationships/hyperlink" Target="https://www.funbrain.com/games/measure-it" TargetMode="External"/><Relationship Id="rId4" Type="http://schemas.openxmlformats.org/officeDocument/2006/relationships/hyperlink" Target="https://www.mathnook.com/math/sort-the-temperatures.html#google_vignett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 descr="PTML::eyJ0eXBlIjoicmVjdCIsImZpbGwiOiIjRThGNEZE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Other Aspects of Measuring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70560" y="861060"/>
            <a:ext cx="78030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Estimating, Referents, Chunking, Unitizing</a:t>
            </a:r>
            <a:endParaRPr sz="27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70560" y="18135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Exploring ideas for grade 3 on continuous attributes like length, area, and volume.</a:t>
            </a:r>
            <a:endParaRPr sz="1417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075" y="2667000"/>
            <a:ext cx="1847849" cy="184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2857500"/>
            <a:ext cx="2857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2857500"/>
            <a:ext cx="2857500" cy="171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813435" y="2908935"/>
            <a:ext cx="2754600" cy="16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indent="-14668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Helps without formal tools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3350" lvl="0" indent="-14668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Connects to practices, applications, standards, assessments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4500" y="2857500"/>
            <a:ext cx="2857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 descr="PTML::eyJ0eXBlIjoicmVjdCIsImZpbGwiOiIjNEVDREM0IiwiY29ybmVyUmFkaXVzIjoxMiwibG9ja2VkIjpmYWxzZSwic2hhZG93Ijp7Im9wYWNpdHkiOjAsImJsdXIiOjAsIm9mZnNldFgiOjAsIm9mZnNldFkiOjB9fQ=="/>
          <p:cNvSpPr/>
          <p:nvPr/>
        </p:nvSpPr>
        <p:spPr>
          <a:xfrm>
            <a:off x="5524500" y="2857500"/>
            <a:ext cx="2857500" cy="171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5575935" y="2908935"/>
            <a:ext cx="2754600" cy="16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indent="-14668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Develops unit sense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3350" lvl="0" indent="-14668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Supports flexible measurement skills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Estimating: What It Is &amp; Why It Matters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Defining Estimation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70560" y="133731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Estimating is the mental process of arriving at a measurement without using a tool, helping students develop a sense of the size of common units.</a:t>
            </a:r>
            <a:endParaRPr sz="1350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095500"/>
            <a:ext cx="3619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2095500"/>
            <a:ext cx="3619500" cy="2381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861060" y="2194560"/>
            <a:ext cx="3421500" cy="21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"About/almost/between" thinking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 types: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048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Estimate known object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048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Select match for given measurement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Strengthens measurement benchmarks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Referents: Using What You Already Know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What is a Referent?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70560" y="133731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A referent is a familiar, personal point of reference used to estimate the measurement of something new (e.g., height, foot, desk).</a:t>
            </a:r>
            <a:endParaRPr sz="1350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095500"/>
            <a:ext cx="3619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2095500"/>
            <a:ext cx="3619500" cy="2381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861060" y="2194560"/>
            <a:ext cx="3421500" cy="21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Improves confidence and accuracy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Connects new measurements to meaningful, consistent benchmarks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Supports cross-unit reasoning (e.g., meter is slightly longer than a yard)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Chunking &amp; Unitizing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Breaking Measurements Into Parts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670560" y="133731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Chunking breaks an object into smaller, manageable subparts (e.g., a door as yard chunks). Unitizing counts how many times one chosen unit fits into an object (e.g., blocks for a wall).</a:t>
            </a:r>
            <a:endParaRPr sz="1320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095500"/>
            <a:ext cx="3619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2095500"/>
            <a:ext cx="3619500" cy="2381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861060" y="2194560"/>
            <a:ext cx="3421500" cy="21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Supports understanding of repeated lengths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Allows for flexible subdivision when more precision is needed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52400" lvl="0" indent="-1676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Helps visualize measurement as a process of iteration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Instructional Practices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Developmentally Appropriate Approaches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714500"/>
            <a:ext cx="7620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1714500"/>
            <a:ext cx="7620000" cy="276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861060" y="1813560"/>
            <a:ext cx="7422000" cy="25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The teacher will gather objects from around the room. 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She will show the students how we measure items. 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The teacher will then read the book “Inch by Inch” by Leo Lionni. 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After reading the book, the teacher will estimate how big the items are that she gathered. 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She will then show the students how to check their estimation by actually measuring the item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Assessment Practices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Evaluating Understanding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714500"/>
            <a:ext cx="7620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1714500"/>
            <a:ext cx="7620000" cy="276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861050" y="1813550"/>
            <a:ext cx="4683600" cy="25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The students would be working individually to complete an estimation and measurement scavenger hunt around the room. 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Students would have a worksheet with things around the room (bulletin board, desk, computer, blocks, books…) that students would estimate their length. 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After estimating the length, students would use measuring materials such as a ruler and/or measuring tape to accurately and precisely measure the objects. </a:t>
            </a:r>
            <a:endParaRPr sz="1200">
              <a:solidFill>
                <a:srgbClr val="FFFFF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tempImageg2cV6F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4650" y="1714600"/>
            <a:ext cx="3418803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Video Summary: Measuring Volume by the displacement of water and the volume of objects (peas)</a:t>
            </a:r>
            <a:endParaRPr sz="13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714500"/>
            <a:ext cx="7620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1714500"/>
            <a:ext cx="7620000" cy="276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803450" y="1654050"/>
            <a:ext cx="7537200" cy="28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27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lang="en" sz="11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First Video</a:t>
            </a:r>
            <a:r>
              <a:rPr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Hands-on experience with volume through water displacement.</a:t>
            </a: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https://platform-teachingchannel-com.eu1.proxy.openathens.net/TeachingChannel/Detail/5791?search=</a:t>
            </a: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Measurement</a:t>
            </a:r>
            <a:r>
              <a:rPr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●"/>
            </a:pPr>
            <a:r>
              <a:rPr lang="en" sz="11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2nd video:</a:t>
            </a:r>
            <a:r>
              <a:rPr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Estimation and Measurement of peas in the classroom. This video talks about volume </a:t>
            </a: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https://platform-teachingchannel-com.eu1.proxy.openathens.net/TeachingChannel/Detail/4796?search=Measurement</a:t>
            </a:r>
            <a:r>
              <a:rPr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1525" y="373525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 Standards Alignment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714500"/>
            <a:ext cx="7620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1714500"/>
            <a:ext cx="7620000" cy="276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861060" y="1813560"/>
            <a:ext cx="7422000" cy="25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Char char="●"/>
            </a:pPr>
            <a:r>
              <a:rPr lang="en" sz="13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CC.2.4.3.A.1:</a:t>
            </a: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Solves problems involving volume, mass, length, temperature (supports referents, estimation).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Char char="●"/>
            </a:pPr>
            <a:r>
              <a:rPr lang="en" sz="13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CC.2.4.4.A.1:</a:t>
            </a: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Converts between larger and smaller units (connects to chunking, unitizing).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Char char="●"/>
            </a:pPr>
            <a:r>
              <a:rPr lang="en" sz="13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CC.2.4.4.A.6W:</a:t>
            </a: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Measures angles and solves problems (reinforces precise units, estimation).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Connections to Children's Lives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Making Measurement Meaningful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714500"/>
            <a:ext cx="7620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1714500"/>
            <a:ext cx="7620000" cy="276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861052" y="1813552"/>
            <a:ext cx="57774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Book: "How Tall, How Short" (historical units)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Book: "Inch by Inch" (story estimation)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Funbrain "Measure It" game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Games </a:t>
            </a:r>
            <a:r>
              <a:rPr lang="en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link</a:t>
            </a: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link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8859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AutoNum type="arabicPeriod"/>
            </a:pPr>
            <a:r>
              <a:rPr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YouTube videos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Link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link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 descr="PTML::eyJ0eXBlIjoicmVjdCIsImZpbGwiOiIjNEVDREM0IiwiY29ybmVyUmFkaXVzIjowLCJsb2NrZWQiOmZhbHNlLCJzaGFkb3ciOnsib3BhY2l0eSI6MCwiYmx1ciI6MCwib2Zmc2V0WCI6MCwib2Zmc2V0WSI6MH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670560" y="99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Discussion Questions</a:t>
            </a:r>
            <a:endParaRPr sz="2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70560" y="86106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Reflecting on Key Concepts</a:t>
            </a:r>
            <a:endParaRPr sz="1800" b="1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714500"/>
            <a:ext cx="7620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 descr="PTML::eyJ0eXBlIjoicmVjdCIsImZpbGwiOiIjRkY2QjZCIiwiY29ybmVyUmFkaXVzIjoxMiwibG9ja2VkIjpmYWxzZSwic2hhZG93Ijp7Im9wYWNpdHkiOjAsImJsdXIiOjAsIm9mZnNldFgiOjAsIm9mZnNldFkiOjB9fQ=="/>
          <p:cNvSpPr/>
          <p:nvPr/>
        </p:nvSpPr>
        <p:spPr>
          <a:xfrm>
            <a:off x="762000" y="1714500"/>
            <a:ext cx="7620000" cy="2762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861060" y="1813560"/>
            <a:ext cx="7422000" cy="25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Describe one developmentally appropriate way to teach a classroom of third graders how to find the area, length, width, or volume of a given shape or space. </a:t>
            </a:r>
            <a:endParaRPr sz="1200">
              <a:solidFill>
                <a:srgbClr val="FFFFF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</a:pPr>
            <a:r>
              <a:rPr lang="en" sz="1200">
                <a:solidFill>
                  <a:srgbClr val="FFFFFF"/>
                </a:solidFill>
              </a:rPr>
              <a:t>To scaffold student learning when introducing a new unit, such as millimeters, you should relate it back to </a:t>
            </a:r>
            <a:endParaRPr sz="1200">
              <a:solidFill>
                <a:srgbClr val="FFFFFF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</a:pPr>
            <a:r>
              <a:rPr lang="en" sz="1200">
                <a:solidFill>
                  <a:srgbClr val="FFFFFF"/>
                </a:solidFill>
              </a:rPr>
              <a:t>Inches</a:t>
            </a:r>
            <a:endParaRPr sz="1200">
              <a:solidFill>
                <a:srgbClr val="FFFFFF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</a:pPr>
            <a:r>
              <a:rPr lang="en" sz="1200">
                <a:solidFill>
                  <a:srgbClr val="FFFFFF"/>
                </a:solidFill>
              </a:rPr>
              <a:t>Centimeters</a:t>
            </a:r>
            <a:endParaRPr sz="1200">
              <a:solidFill>
                <a:srgbClr val="FFFFFF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</a:pPr>
            <a:r>
              <a:rPr lang="en" sz="1200">
                <a:solidFill>
                  <a:srgbClr val="FFFFFF"/>
                </a:solidFill>
              </a:rPr>
              <a:t>Meters</a:t>
            </a:r>
            <a:endParaRPr sz="1200">
              <a:solidFill>
                <a:srgbClr val="FFFFFF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</a:pPr>
            <a:r>
              <a:rPr lang="en" sz="1200">
                <a:solidFill>
                  <a:srgbClr val="FFFFFF"/>
                </a:solidFill>
              </a:rPr>
              <a:t>Micrometer</a:t>
            </a: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50" y="3810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Macintosh PowerPoint</Application>
  <PresentationFormat>On-screen Show 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Inter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KATHLEEN TAIT</cp:lastModifiedBy>
  <cp:revision>1</cp:revision>
  <dcterms:modified xsi:type="dcterms:W3CDTF">2025-12-03T02:55:21Z</dcterms:modified>
</cp:coreProperties>
</file>